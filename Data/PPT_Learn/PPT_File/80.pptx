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g&amp;ehk=" ContentType="image/jpeg"/>
  <Default Extension="jpeg" ContentType="image/jpeg"/>
  <Default Extension="rels" ContentType="application/vnd.openxmlformats-package.relationships+xml"/>
  <Default Extension="xml" ContentType="application/xml"/>
  <Default Extension="jpg&amp;ehk=6Yp" ContentType="image/jpeg"/>
  <Default Extension="jpg&amp;ehk=2U" ContentType="image/jpeg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64" r:id="rId5"/>
    <p:sldId id="276" r:id="rId6"/>
    <p:sldId id="277" r:id="rId7"/>
    <p:sldId id="279" r:id="rId8"/>
    <p:sldId id="278" r:id="rId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9DE65FA-97CA-4773-8E1B-AF2B3BE2A0E8}">
          <p14:sldIdLst>
            <p14:sldId id="264"/>
          </p14:sldIdLst>
        </p14:section>
        <p14:section name="Course Introduction" id="{D1BA68B2-306C-4AD4-A313-D6F828BCDAAB}">
          <p14:sldIdLst>
            <p14:sldId id="276"/>
            <p14:sldId id="277"/>
            <p14:sldId id="279"/>
            <p14:sldId id="278"/>
          </p14:sldIdLst>
        </p14:section>
      </p14:sectionLst>
    </p:ext>
    <p:ext uri="{EFAFB233-063F-42B5-8137-9DF3F51BA10A}">
      <p15:sldGuideLst xmlns:p15="http://schemas.microsoft.com/office/powerpoint/2012/main">
        <p15:guide id="9" pos="3839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80" autoAdjust="0"/>
  </p:normalViewPr>
  <p:slideViewPr>
    <p:cSldViewPr showGuides="1">
      <p:cViewPr varScale="1">
        <p:scale>
          <a:sx n="58" d="100"/>
          <a:sy n="58" d="100"/>
        </p:scale>
        <p:origin x="360" y="108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73C59C-4E16-4A64-A766-34DB213E11B3}" type="datetimeFigureOut">
              <a:rPr lang="en-US">
                <a:solidFill>
                  <a:schemeClr val="tx2"/>
                </a:solidFill>
              </a:rPr>
              <a:t>03-09-2020</a:t>
            </a:fld>
            <a:endParaRPr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77566-CD65-4859-9FA1-43956DC85B8C}" type="slidenum">
              <a:rPr>
                <a:solidFill>
                  <a:schemeClr val="tx2"/>
                </a:solidFill>
              </a:rPr>
              <a:t>‹#›</a:t>
            </a:fld>
            <a:endParaRPr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7983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F95CF31C-F757-429C-A789-86504F04C3BE}" type="datetimeFigureOut">
              <a:rPr lang="en-US"/>
              <a:pPr/>
              <a:t>03-09-2020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8796F01-7154-41E0-B48B-A6921757531A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07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2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2383" y="1498601"/>
            <a:ext cx="7008574" cy="32988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540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2383" y="4927600"/>
            <a:ext cx="7008574" cy="1244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b="0">
                <a:solidFill>
                  <a:schemeClr val="tx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22770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A30F4-0B4E-4E4B-BC36-C30CD13F4E17}" type="datetimeFigureOut">
              <a:rPr lang="en-US"/>
              <a:t>03-09-2020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60BA0E-20D0-4E7C-B286-26C960A6788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52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auto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589" y="4445000"/>
            <a:ext cx="7008574" cy="1930400"/>
          </a:xfrm>
        </p:spPr>
        <p:txBody>
          <a:bodyPr anchor="t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589" y="3124200"/>
            <a:ext cx="7008574" cy="129698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6340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30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1706581" indent="0">
              <a:buNone/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7559" y="1701800"/>
            <a:ext cx="4977104" cy="4470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89339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137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30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01622" y="1608836"/>
            <a:ext cx="4973041" cy="512064"/>
          </a:xfrm>
        </p:spPr>
        <p:txBody>
          <a:bodyPr anchor="b">
            <a:no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7559" y="2209800"/>
            <a:ext cx="4977104" cy="3962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 marL="2011328">
              <a:defRPr sz="1800"/>
            </a:lvl5pPr>
            <a:lvl6pPr marL="2011328">
              <a:defRPr sz="1800"/>
            </a:lvl6pPr>
            <a:lvl7pPr marL="2011328">
              <a:defRPr sz="1800"/>
            </a:lvl7pPr>
            <a:lvl8pPr marL="2011328">
              <a:defRPr sz="1800"/>
            </a:lvl8pPr>
            <a:lvl9pPr marL="2011328"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28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1676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204D1-F9BD-4643-8480-6EA41EB484F1}" type="datetimeFigureOut">
              <a:rPr lang="en-US"/>
              <a:t>03-09-2020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7DED6-D4C7-42EE-AB49-D2E39E64FDE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73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961368" y="0"/>
            <a:ext cx="7922736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721" y="1701800"/>
            <a:ext cx="3351927" cy="28448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21" y="4648200"/>
            <a:ext cx="3351927" cy="17272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9236" y="482600"/>
            <a:ext cx="6805427" cy="5892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807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82258" y="0"/>
            <a:ext cx="802431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7765" y="4800600"/>
            <a:ext cx="7313295" cy="76200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2437765" y="279401"/>
            <a:ext cx="7313295" cy="444817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37765" y="5562600"/>
            <a:ext cx="7313295" cy="8128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BF754-515F-40B9-8D24-D54D5825B3D0}" type="datetimeFigureOut">
              <a:rPr lang="en-US"/>
              <a:t>03-09-2020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BB78A-01B4-41F2-96B0-677A4A28283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33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10434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52633" y="274638"/>
            <a:ext cx="1422030" cy="58975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7309" y="274638"/>
            <a:ext cx="8532178" cy="589756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CB6C2-1084-4AED-A74A-DF028B0094EA}" type="datetimeFigureOut">
              <a:rPr lang="en-US"/>
              <a:t>03-09-2020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C5AD9-787D-40FA-8A4D-16A055B9AF8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071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04721" y="0"/>
            <a:ext cx="11579384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5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7309" y="76200"/>
            <a:ext cx="10157354" cy="1397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309" y="1701800"/>
            <a:ext cx="10157354" cy="44704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7309" y="6400801"/>
            <a:ext cx="2742486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l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2DD204D1-F9BD-4643-8480-6EA41EB484F1}" type="datetimeFigureOut">
              <a:rPr lang="en-US" smtClean="0"/>
              <a:pPr/>
              <a:t>03-09-2020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7842" y="6400801"/>
            <a:ext cx="6216301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ct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7146" y="6400801"/>
            <a:ext cx="1107518" cy="320675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200" baseline="0">
                <a:solidFill>
                  <a:schemeClr val="tx2">
                    <a:lumMod val="65000"/>
                    <a:lumOff val="35000"/>
                  </a:schemeClr>
                </a:solidFill>
              </a:defRPr>
            </a:lvl1pPr>
          </a:lstStyle>
          <a:p>
            <a:fld id="{EB37DED6-D4C7-42EE-AB49-D2E39E64FD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47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9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75" r:id="rId8"/>
    <p:sldLayoutId id="2147483676" r:id="rId9"/>
    <p:sldLayoutId id="2147483677" r:id="rId10"/>
    <p:sldLayoutId id="2147483678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4400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SzPct val="10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437973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86461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264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78859" indent="-304747" algn="l" defTabSz="1218987" rtl="0" eaLnBrk="1" latinLnBrk="0" hangingPunct="1">
        <a:lnSpc>
          <a:spcPct val="95000"/>
        </a:lnSpc>
        <a:spcBef>
          <a:spcPts val="1066"/>
        </a:spcBef>
        <a:buSzPct val="90000"/>
        <a:buFont typeface="Century Gothic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7" Type="http://schemas.openxmlformats.org/officeDocument/2006/relationships/hyperlink" Target="http://commons.wikimedia.org/wiki/File:Pomo_Basket_Bowl.jpg" TargetMode="External"/><Relationship Id="rId2" Type="http://schemas.openxmlformats.org/officeDocument/2006/relationships/image" Target="../media/image4.jpg&amp;ehk=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hyperlink" Target="http://jdorganizer.blogspot.ca/2008/09/moving-into-autumn-firewood-racks-and.html" TargetMode="External"/><Relationship Id="rId4" Type="http://schemas.openxmlformats.org/officeDocument/2006/relationships/image" Target="../media/image5.jpg&amp;ehk=2U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8.jpg&amp;ehk=6Yp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jdorganizer.blogspot.com/2011/10/organizing-with-knitting-baskets.html" TargetMode="External"/><Relationship Id="rId2" Type="http://schemas.openxmlformats.org/officeDocument/2006/relationships/image" Target="../media/image8.jpg&amp;ehk=6Y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3650340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said basket weaving was easy?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Below are all the different types of baskets that we will be making throughout this semester: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054B1D1A-7654-4357-9449-87A4CF9EBA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4330325" y="3733800"/>
            <a:ext cx="1980239" cy="2438400"/>
          </a:xfrm>
          <a:prstGeom prst="rect">
            <a:avLst/>
          </a:prstGeom>
        </p:spPr>
      </p:pic>
      <p:pic>
        <p:nvPicPr>
          <p:cNvPr id="6" name="Picture 5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71B69DB3-15FD-4A56-B47D-3337D69A0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5"/>
              </a:ext>
            </a:extLst>
          </a:blip>
          <a:stretch>
            <a:fillRect/>
          </a:stretch>
        </p:blipFill>
        <p:spPr>
          <a:xfrm>
            <a:off x="672161" y="2822448"/>
            <a:ext cx="2438400" cy="2279904"/>
          </a:xfrm>
          <a:prstGeom prst="rect">
            <a:avLst/>
          </a:prstGeom>
        </p:spPr>
      </p:pic>
      <p:pic>
        <p:nvPicPr>
          <p:cNvPr id="9" name="Picture 8" descr="A picture containing indoor, wall, table, sitting&#10;&#10;Description generated with very high confidence">
            <a:extLst>
              <a:ext uri="{FF2B5EF4-FFF2-40B4-BE49-F238E27FC236}">
                <a16:creationId xmlns:a16="http://schemas.microsoft.com/office/drawing/2014/main" xmlns="" id="{2E26CB02-87BE-4C7E-8B76-59D09B77D71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7"/>
              </a:ext>
            </a:extLst>
          </a:blip>
          <a:stretch>
            <a:fillRect/>
          </a:stretch>
        </p:blipFill>
        <p:spPr>
          <a:xfrm>
            <a:off x="7999412" y="2857500"/>
            <a:ext cx="2967374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18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EFEE25-8CBB-4362-9A0C-42EC8ED1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Required Texts:</a:t>
            </a:r>
            <a:endParaRPr lang="en-CA" dirty="0">
              <a:solidFill>
                <a:srgbClr val="FF0000"/>
              </a:solidFill>
            </a:endParaRPr>
          </a:p>
        </p:txBody>
      </p:sp>
      <p:pic>
        <p:nvPicPr>
          <p:cNvPr id="5" name="Content Placeholder 4" descr="Books">
            <a:extLst>
              <a:ext uri="{FF2B5EF4-FFF2-40B4-BE49-F238E27FC236}">
                <a16:creationId xmlns:a16="http://schemas.microsoft.com/office/drawing/2014/main" xmlns="" id="{E9F1C331-37F4-44B5-A821-38E4540B0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990012" y="76200"/>
            <a:ext cx="2667000" cy="266700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2CFC503-380F-41EE-82BA-5BDA0759CCBD}"/>
              </a:ext>
            </a:extLst>
          </p:cNvPr>
          <p:cNvSpPr txBox="1"/>
          <p:nvPr/>
        </p:nvSpPr>
        <p:spPr>
          <a:xfrm>
            <a:off x="989012" y="1752600"/>
            <a:ext cx="792480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the soul </a:t>
            </a:r>
            <a:r>
              <a:rPr lang="en-US" sz="3200" dirty="0"/>
              <a:t>by </a:t>
            </a:r>
            <a:r>
              <a:rPr lang="en-US" sz="3200" b="1" dirty="0"/>
              <a:t>Amy Shoelaces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Post Modern era basket weaving </a:t>
            </a:r>
            <a:r>
              <a:rPr lang="en-US" sz="3200" dirty="0"/>
              <a:t>by Chuck Smith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i="1" dirty="0"/>
              <a:t>Basket Weaving for Noobs </a:t>
            </a:r>
            <a:r>
              <a:rPr lang="en-US" sz="3200" dirty="0"/>
              <a:t>by Lorrie Cartwright</a:t>
            </a:r>
            <a:endParaRPr lang="en-CA" sz="3200" i="1" dirty="0"/>
          </a:p>
        </p:txBody>
      </p:sp>
    </p:spTree>
    <p:extLst>
      <p:ext uri="{BB962C8B-B14F-4D97-AF65-F5344CB8AC3E}">
        <p14:creationId xmlns:p14="http://schemas.microsoft.com/office/powerpoint/2010/main" val="4261597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tretch>
            <a:fillRect/>
          </a:stretch>
        </p:blipFill>
        <p:spPr>
          <a:xfrm>
            <a:off x="-153988" y="-381000"/>
            <a:ext cx="12687300" cy="78009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2635662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basket&#10;&#10;Description generated with very high confidence">
            <a:extLst>
              <a:ext uri="{FF2B5EF4-FFF2-40B4-BE49-F238E27FC236}">
                <a16:creationId xmlns:a16="http://schemas.microsoft.com/office/drawing/2014/main" xmlns="" id="{5F7BE245-EFD5-4F4B-9CC6-7077581FCA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rcRect l="22823" t="3907" r="18318" b="3297"/>
          <a:stretch/>
        </p:blipFill>
        <p:spPr>
          <a:xfrm>
            <a:off x="4799012" y="609600"/>
            <a:ext cx="5581047" cy="54101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12" y="-2286000"/>
            <a:ext cx="7008574" cy="3298825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Class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15" y="1143000"/>
            <a:ext cx="3705225" cy="1244600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Basket Weaving 101 </a:t>
            </a:r>
          </a:p>
        </p:txBody>
      </p:sp>
    </p:spTree>
    <p:extLst>
      <p:ext uri="{BB962C8B-B14F-4D97-AF65-F5344CB8AC3E}">
        <p14:creationId xmlns:p14="http://schemas.microsoft.com/office/powerpoint/2010/main" val="4007588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ooks 16x9">
  <a:themeElements>
    <a:clrScheme name="Books_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787940.potx" id="{F769AD3B-90E4-4F81-9CF2-8BD9F607FEC3}" vid="{18F656D2-BE2F-4155-8430-D393897A45F9}"/>
    </a:ext>
  </a:extLst>
</a:theme>
</file>

<file path=ppt/theme/theme2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ooks16x9">
      <a:dk1>
        <a:srgbClr val="374C81"/>
      </a:dk1>
      <a:lt1>
        <a:srgbClr val="FFFFFF"/>
      </a:lt1>
      <a:dk2>
        <a:srgbClr val="000000"/>
      </a:dk2>
      <a:lt2>
        <a:srgbClr val="EDE5DF"/>
      </a:lt2>
      <a:accent1>
        <a:srgbClr val="414E77"/>
      </a:accent1>
      <a:accent2>
        <a:srgbClr val="70AAC4"/>
      </a:accent2>
      <a:accent3>
        <a:srgbClr val="8B6A94"/>
      </a:accent3>
      <a:accent4>
        <a:srgbClr val="61A796"/>
      </a:accent4>
      <a:accent5>
        <a:srgbClr val="4E5798"/>
      </a:accent5>
      <a:accent6>
        <a:srgbClr val="7E5C5C"/>
      </a:accent6>
      <a:hlink>
        <a:srgbClr val="0070C0"/>
      </a:hlink>
      <a:folHlink>
        <a:srgbClr val="7030A0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1345039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The bookstacks present on most slides  make this a good choice for students, teachers, reading enthusiasts, and others in education. This presentation template contains multiple slide layouts in widescreen format (16x9) and includes a sample table and chart that you can easily  modify.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2011-11-26T00:00:00+00:00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TP102787939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694216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301D382-32B0-43EE-932C-28906AF37617}">
  <ds:schemaRefs>
    <ds:schemaRef ds:uri="http://purl.org/dc/elements/1.1/"/>
    <ds:schemaRef ds:uri="http://www.w3.org/XML/1998/namespace"/>
    <ds:schemaRef ds:uri="4873beb7-5857-4685-be1f-d57550cc96cc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BB5C329-08A6-4E5E-AEF1-A97828C874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1B558C7-619B-49BE-9097-7FCBDADD4E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Blue bookstack presentation (widescreen)</Template>
  <TotalTime>588</TotalTime>
  <Words>65</Words>
  <Application>Microsoft Office PowerPoint</Application>
  <PresentationFormat>Custom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Books 16x9</vt:lpstr>
      <vt:lpstr>First Class</vt:lpstr>
      <vt:lpstr>Who said basket weaving was easy?</vt:lpstr>
      <vt:lpstr>Required Texts:</vt:lpstr>
      <vt:lpstr>First Class</vt:lpstr>
      <vt:lpstr>First Class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Class</dc:title>
  <dc:creator>Mike Carter</dc:creator>
  <cp:lastModifiedBy>Admin</cp:lastModifiedBy>
  <cp:revision>8</cp:revision>
  <dcterms:created xsi:type="dcterms:W3CDTF">2018-06-09T00:36:35Z</dcterms:created>
  <dcterms:modified xsi:type="dcterms:W3CDTF">2020-09-03T03:27:51Z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